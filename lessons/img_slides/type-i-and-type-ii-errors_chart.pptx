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ECF7"/>
    <a:srgbClr val="C7F1C3"/>
    <a:srgbClr val="FFA789"/>
    <a:srgbClr val="F18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AD31-32BC-3702-A15C-168989160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6CA8C-0EBE-311A-247F-2F8D06E3B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C9660-5BB8-C1D8-6734-29FD693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1C92-25B5-C442-90DF-CDA3C81929A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53D5C-40CB-421E-3E53-2D7F7D45B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77465-049F-AE6F-2CF3-03E61E0E7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0E0F6-4656-504B-B85D-107CC1EEB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3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829C-C89D-61D8-8A4B-F85E11E6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64A6F-F9A4-641A-7C20-D1F052B54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53035-3C7D-348C-AFF2-E04E3B9CB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1C92-25B5-C442-90DF-CDA3C81929A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4E1A7-BD64-B253-7201-CD229C42B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D8560-72B8-F1A2-15EA-6DEA3957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0E0F6-4656-504B-B85D-107CC1EEB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47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E42A7-C539-FA44-92A5-713A316B7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6AB0B-745A-865C-ACA1-30967AB8D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A7E83-3029-030D-4DFE-EA7B0DEA4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1C92-25B5-C442-90DF-CDA3C81929A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5DE03-C7D8-4E88-07BD-02727FD42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43844-278B-B9F3-656F-FB691917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0E0F6-4656-504B-B85D-107CC1EEB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9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6D0F-43C9-D3FB-80B8-C6A1EA7BB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04614-FED1-F871-128C-D22B5140E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819D5-52DF-FB22-00D8-403B030BB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2306E-89F8-D623-7AA2-D5ABE4BB3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1C92-25B5-C442-90DF-CDA3C81929A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08013-CC9F-9870-3A81-AEC6F1D14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16B4A-54EE-5C45-0C87-8AC83783C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0E0F6-4656-504B-B85D-107CC1EEB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60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1BA9-FF81-AE2D-3B55-4F8520742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F863A-B234-A2CD-9035-10107B69C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3CE9D-E7A4-A4E0-D68E-6598C1813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7515B-736E-9307-5C70-CC9AA6553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9292D4-E1C1-1304-C259-F48E78C0F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D43731-702B-9443-4D10-6E88C8D5C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1C92-25B5-C442-90DF-CDA3C81929A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4B0492-C3A0-FB9E-3397-5E59848CA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DF6B5-7ADC-AF28-13BA-72BCEC52B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0E0F6-4656-504B-B85D-107CC1EEB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33DA-795F-CC82-F0ED-7D873724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9F822-C7F6-D92E-B6B8-FE191B26A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1C92-25B5-C442-90DF-CDA3C81929A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720B3-884A-5DC6-654B-AFE655AFB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6679C-F0E5-6C7F-33EE-2226889A9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0E0F6-4656-504B-B85D-107CC1EEB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9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330EFB-D078-DEE0-B4B3-EE4F0D419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1C92-25B5-C442-90DF-CDA3C81929A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F76F8D-7E7B-8F51-2F8F-F57956D75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5B966-E00D-EE8C-0DEC-377D46174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0E0F6-4656-504B-B85D-107CC1EEB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18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AB9C5-433F-2450-DA19-528B809AA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C7A40-F078-BF57-486E-63FEE43B5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5B1590-E21F-7FF2-1ED0-A6BB87A9F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E3C46-2268-69EA-C857-0C5A81BCE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1C92-25B5-C442-90DF-CDA3C81929A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0B030-B0D3-E871-E232-2300DF77A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C059A-5C4D-FA04-92EA-0D1E3AC5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0E0F6-4656-504B-B85D-107CC1EEB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8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B3D0-883A-9C8D-AD25-794E3B14A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170A19-ACDD-BD96-B676-996D3AD612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83BBB-6431-66AD-C6EC-D791E7A0A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F0527-2A77-6354-2FB6-CBA086E5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1C92-25B5-C442-90DF-CDA3C81929A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63A9A-BDEA-1F4A-5B22-C46E06D29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7A81B-8108-11DC-8F61-CB732CA0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0E0F6-4656-504B-B85D-107CC1EEB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91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8682-7514-99B2-1315-04EB0D853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5DF9F-E694-0368-628E-202299715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055DD-C219-A2FD-527D-3754FE5A1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1C92-25B5-C442-90DF-CDA3C81929A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BED0B-5725-113F-43BE-8D1F6ED0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CA01-7C5F-FD38-4793-BD42D4AB9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0E0F6-4656-504B-B85D-107CC1EEB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06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BC5236-2994-6666-17F9-BD6F89C37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DF09B2-1241-3405-DAE4-23E42C424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2BE6E-55B2-B10F-A983-574C2027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1C92-25B5-C442-90DF-CDA3C81929A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7DFD1-7572-78FE-242A-AC965403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825A0-CE12-D30B-1C66-6083E2855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0E0F6-4656-504B-B85D-107CC1EEB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44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591E04-919B-78D2-9D3A-635A0C24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505AD-2F3E-072B-0D49-A6047954E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A6A7F-6D51-88A1-6DC9-1A2F19872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61C92-25B5-C442-90DF-CDA3C81929A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58F65-53B4-F225-D874-5B9BD2D60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F087D-DBB7-A13B-84B6-4D9BD6D68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0E0F6-4656-504B-B85D-107CC1EEB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8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7A03BE9-4702-169E-DDC5-C1D9CE17B0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3161411"/>
                  </p:ext>
                </p:extLst>
              </p:nvPr>
            </p:nvGraphicFramePr>
            <p:xfrm>
              <a:off x="4212771" y="1785257"/>
              <a:ext cx="5791201" cy="3657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2772">
                      <a:extLst>
                        <a:ext uri="{9D8B030D-6E8A-4147-A177-3AD203B41FA5}">
                          <a16:colId xmlns:a16="http://schemas.microsoft.com/office/drawing/2014/main" val="3133958968"/>
                        </a:ext>
                      </a:extLst>
                    </a:gridCol>
                    <a:gridCol w="1402443">
                      <a:extLst>
                        <a:ext uri="{9D8B030D-6E8A-4147-A177-3AD203B41FA5}">
                          <a16:colId xmlns:a16="http://schemas.microsoft.com/office/drawing/2014/main" val="3386953002"/>
                        </a:ext>
                      </a:extLst>
                    </a:gridCol>
                    <a:gridCol w="1992993">
                      <a:extLst>
                        <a:ext uri="{9D8B030D-6E8A-4147-A177-3AD203B41FA5}">
                          <a16:colId xmlns:a16="http://schemas.microsoft.com/office/drawing/2014/main" val="4158766791"/>
                        </a:ext>
                      </a:extLst>
                    </a:gridCol>
                    <a:gridCol w="1992993">
                      <a:extLst>
                        <a:ext uri="{9D8B030D-6E8A-4147-A177-3AD203B41FA5}">
                          <a16:colId xmlns:a16="http://schemas.microsoft.com/office/drawing/2014/main" val="600845449"/>
                        </a:ext>
                      </a:extLst>
                    </a:gridCol>
                  </a:tblGrid>
                  <a:tr h="389062">
                    <a:tc rowSpan="2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T w="12700" cmpd="sng">
                          <a:noFill/>
                        </a:lnT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Our conclusion</a:t>
                          </a:r>
                        </a:p>
                      </a:txBody>
                      <a:tcPr anchor="b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9130453"/>
                      </a:ext>
                    </a:extLst>
                  </a:tr>
                  <a:tr h="764824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Fail to reject null hypothesis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Reject null hypothesis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0374870"/>
                      </a:ext>
                    </a:extLst>
                  </a:tr>
                  <a:tr h="125185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Underlying truth</a:t>
                          </a:r>
                        </a:p>
                      </a:txBody>
                      <a:tcPr vert="vert27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Null hypothesis is true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Correct! </a:t>
                          </a:r>
                        </a:p>
                        <a:p>
                          <a:pPr algn="ctr"/>
                          <a:r>
                            <a:rPr lang="en-US" dirty="0"/>
                            <a:t>(true negative)</a:t>
                          </a:r>
                        </a:p>
                      </a:txBody>
                      <a:tcPr anchor="ctr">
                        <a:solidFill>
                          <a:srgbClr val="D0EC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Type I error </a:t>
                          </a:r>
                        </a:p>
                        <a:p>
                          <a:pPr algn="ctr"/>
                          <a:r>
                            <a:rPr lang="en-US" dirty="0"/>
                            <a:t>(false positive) probability =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>
                        <a:solidFill>
                          <a:srgbClr val="F18E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1493843"/>
                      </a:ext>
                    </a:extLst>
                  </a:tr>
                  <a:tr h="1251857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Null hypothesis is false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Type II error</a:t>
                          </a:r>
                        </a:p>
                        <a:p>
                          <a:pPr algn="ctr"/>
                          <a:r>
                            <a:rPr lang="en-US" dirty="0"/>
                            <a:t>(false negative)</a:t>
                          </a:r>
                        </a:p>
                        <a:p>
                          <a:pPr algn="ctr"/>
                          <a:r>
                            <a:rPr lang="en-US" dirty="0"/>
                            <a:t>probability =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 anchor="ctr">
                        <a:solidFill>
                          <a:srgbClr val="FFA78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Correct! </a:t>
                          </a:r>
                        </a:p>
                        <a:p>
                          <a:pPr algn="ctr"/>
                          <a:r>
                            <a:rPr lang="en-US" dirty="0"/>
                            <a:t>(true positive)</a:t>
                          </a:r>
                        </a:p>
                      </a:txBody>
                      <a:tcPr anchor="ctr">
                        <a:solidFill>
                          <a:srgbClr val="C7F1C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05956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7A03BE9-4702-169E-DDC5-C1D9CE17B0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3161411"/>
                  </p:ext>
                </p:extLst>
              </p:nvPr>
            </p:nvGraphicFramePr>
            <p:xfrm>
              <a:off x="4212771" y="1785257"/>
              <a:ext cx="5791201" cy="3657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2772">
                      <a:extLst>
                        <a:ext uri="{9D8B030D-6E8A-4147-A177-3AD203B41FA5}">
                          <a16:colId xmlns:a16="http://schemas.microsoft.com/office/drawing/2014/main" val="3133958968"/>
                        </a:ext>
                      </a:extLst>
                    </a:gridCol>
                    <a:gridCol w="1402443">
                      <a:extLst>
                        <a:ext uri="{9D8B030D-6E8A-4147-A177-3AD203B41FA5}">
                          <a16:colId xmlns:a16="http://schemas.microsoft.com/office/drawing/2014/main" val="3386953002"/>
                        </a:ext>
                      </a:extLst>
                    </a:gridCol>
                    <a:gridCol w="1992993">
                      <a:extLst>
                        <a:ext uri="{9D8B030D-6E8A-4147-A177-3AD203B41FA5}">
                          <a16:colId xmlns:a16="http://schemas.microsoft.com/office/drawing/2014/main" val="4158766791"/>
                        </a:ext>
                      </a:extLst>
                    </a:gridCol>
                    <a:gridCol w="1992993">
                      <a:extLst>
                        <a:ext uri="{9D8B030D-6E8A-4147-A177-3AD203B41FA5}">
                          <a16:colId xmlns:a16="http://schemas.microsoft.com/office/drawing/2014/main" val="600845449"/>
                        </a:ext>
                      </a:extLst>
                    </a:gridCol>
                  </a:tblGrid>
                  <a:tr h="389062">
                    <a:tc rowSpan="2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T w="12700" cmpd="sng">
                          <a:noFill/>
                        </a:lnT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Our conclusion</a:t>
                          </a:r>
                        </a:p>
                      </a:txBody>
                      <a:tcPr anchor="b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9130453"/>
                      </a:ext>
                    </a:extLst>
                  </a:tr>
                  <a:tr h="764824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Fail to reject null hypothesis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Reject null hypothesis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0374870"/>
                      </a:ext>
                    </a:extLst>
                  </a:tr>
                  <a:tr h="125185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Underlying truth</a:t>
                          </a:r>
                        </a:p>
                      </a:txBody>
                      <a:tcPr vert="vert27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Null hypothesis is true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Correct! </a:t>
                          </a:r>
                        </a:p>
                        <a:p>
                          <a:pPr algn="ctr"/>
                          <a:r>
                            <a:rPr lang="en-US" dirty="0"/>
                            <a:t>(true negative)</a:t>
                          </a:r>
                        </a:p>
                      </a:txBody>
                      <a:tcPr anchor="ctr">
                        <a:solidFill>
                          <a:srgbClr val="D0EC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2994" t="-92929" r="-1274" b="-1010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1493843"/>
                      </a:ext>
                    </a:extLst>
                  </a:tr>
                  <a:tr h="1251857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Null hypothesis is false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1772" t="-192929" r="-100633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Correct! </a:t>
                          </a:r>
                        </a:p>
                        <a:p>
                          <a:pPr algn="ctr"/>
                          <a:r>
                            <a:rPr lang="en-US" dirty="0"/>
                            <a:t>(true positive)</a:t>
                          </a:r>
                        </a:p>
                      </a:txBody>
                      <a:tcPr anchor="ctr">
                        <a:solidFill>
                          <a:srgbClr val="C7F1C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05956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22376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Nicky Wakim</dc:creator>
  <cp:lastModifiedBy>Nicky Wakim</cp:lastModifiedBy>
  <cp:revision>1</cp:revision>
  <dcterms:created xsi:type="dcterms:W3CDTF">2025-11-14T18:45:25Z</dcterms:created>
  <dcterms:modified xsi:type="dcterms:W3CDTF">2025-11-14T18:55:39Z</dcterms:modified>
</cp:coreProperties>
</file>